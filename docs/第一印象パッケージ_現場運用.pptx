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502920" cy="3048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5AB8B"/>
                </a:solidFill>
                <a:latin typeface="Yu Gothic"/>
              </a:rPr>
              <a:t>OPERATIONS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574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Yu Mincho"/>
              </a:rPr>
              <a:t>第一印象パッケージ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DF1E8"/>
                </a:solidFill>
                <a:latin typeface="Yu Gothic"/>
              </a:rPr>
              <a:t>現場運用マニュアル — 予約から納品、ふりかえりまで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5AB8B"/>
                </a:solidFill>
                <a:latin typeface="Yu Gothic"/>
              </a:rPr>
              <a:t>印象を、再現できる型に。 ／ 1ヶ月 ・ ¥38,000〜 ・ テーマ＝顔・自意識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29200"/>
            <a:ext cx="6858000" cy="12700"/>
          </a:xfrm>
          <a:prstGeom prst="rect">
            <a:avLst/>
          </a:prstGeom>
          <a:solidFill>
            <a:srgbClr val="3A4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DF1E8"/>
                </a:solidFill>
                <a:latin typeface="Yu Gothic"/>
              </a:rPr>
              <a:t>His Recoveries ／ バイタリティデザイン合同会社</a:t>
            </a:r>
          </a:p>
          <a:p>
            <a:pPr algn="l"/>
            <a:r>
              <a:rPr sz="1050" b="0">
                <a:solidFill>
                  <a:srgbClr val="6B7A66"/>
                </a:solidFill>
                <a:latin typeface="Yu Gothic"/>
              </a:rPr>
              <a:t>完全匿名 ・ 完全守秘義務 ・ 中立（紹介手数料ゼロ） ・ 医療連携は中立案内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1本の線にした体験ジャーニー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3ステップを「現在地 → 実践 → 1ヶ月後の再現確認」として運用する。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DF1E8"/>
                </a:solidFill>
                <a:latin typeface="Yu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71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D5638"/>
                </a:solidFill>
                <a:latin typeface="Yu Gothic"/>
              </a:rPr>
              <a:t>Day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1D"/>
                </a:solidFill>
                <a:latin typeface="Yu Gothic"/>
              </a:rPr>
              <a:t>肌・印象の診断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現在地を同じ言葉で見る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45–60分 / 専属担当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7832" y="3154680"/>
            <a:ext cx="246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5AB8B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93008" y="20116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67328" y="2286000"/>
            <a:ext cx="548640" cy="548640"/>
          </a:xfrm>
          <a:prstGeom prst="ellipse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67328" y="23957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DF1E8"/>
                </a:solidFill>
                <a:latin typeface="Yu Gothic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2971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D5638"/>
                </a:solidFill>
                <a:latin typeface="Yu Gothic"/>
              </a:rPr>
              <a:t>Session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1D"/>
                </a:solidFill>
                <a:latin typeface="Yu Gothic"/>
              </a:rPr>
              <a:t>メイク＋服選び＋撮影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3977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型を手で体験し再現へ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180–210分 / 4ロール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154680"/>
            <a:ext cx="246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5AB8B"/>
                </a:solidFill>
                <a:latin typeface="Yu Gothic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45936" y="20116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0256" y="2286000"/>
            <a:ext cx="548640" cy="548640"/>
          </a:xfrm>
          <a:prstGeom prst="ellipse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23957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DF1E8"/>
                </a:solidFill>
                <a:latin typeface="Yu Gothic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2971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D5638"/>
                </a:solidFill>
                <a:latin typeface="Yu Gothic"/>
              </a:rPr>
              <a:t>納品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1D"/>
                </a:solidFill>
                <a:latin typeface="Yu Gothic"/>
              </a:rPr>
              <a:t>型のマニュアル化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3977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1ヶ月再現するための手順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非同期 / 専属担当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3154680"/>
            <a:ext cx="246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5AB8B"/>
                </a:solidFill>
                <a:latin typeface="Yu Gothic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98864" y="201168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73184" y="2286000"/>
            <a:ext cx="548640" cy="548640"/>
          </a:xfrm>
          <a:prstGeom prst="ellipse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3184" y="23957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DF1E8"/>
                </a:solidFill>
                <a:latin typeface="Yu Gothic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97180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3D5638"/>
                </a:solidFill>
                <a:latin typeface="Yu Gothic"/>
              </a:rPr>
              <a:t>Day 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3184" y="3246120"/>
            <a:ext cx="2103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A1D"/>
                </a:solidFill>
                <a:latin typeface="Yu Gothic"/>
              </a:rPr>
              <a:t>1ヶ月後の再撮影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397764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自分で再現できたか確認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4B5B47"/>
                </a:solidFill>
                <a:latin typeface="Yu Gothic"/>
              </a:rPr>
              <a:t>60–90分 / 担当＋撮影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現場が崩してはいけない5原則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表現・案内・記録のすべてに適用する大前提。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64008" cy="786384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41A"/>
                </a:solidFill>
                <a:latin typeface="Yu Gothic"/>
              </a:rPr>
              <a:t>完全匿名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B47"/>
                </a:solidFill>
                <a:latin typeface="Yu Gothic"/>
              </a:rPr>
              <a:t>本名・顔・実年齢は残さない。会員IDで運用。撮影データは本人管理を基本に。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98064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98064"/>
            <a:ext cx="64008" cy="786384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98064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41A"/>
                </a:solidFill>
                <a:latin typeface="Yu Gothic"/>
              </a:rPr>
              <a:t>完全守秘義務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98064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B47"/>
                </a:solidFill>
                <a:latin typeface="Yu Gothic"/>
              </a:rPr>
              <a:t>担当・パートナー全員がNDA。内容・写真・悩みを外部共有しない。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630168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630168"/>
            <a:ext cx="64008" cy="786384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30168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41A"/>
                </a:solidFill>
                <a:latin typeface="Yu Gothic"/>
              </a:rPr>
              <a:t>中立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630168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B47"/>
                </a:solidFill>
                <a:latin typeface="Yu Gothic"/>
              </a:rPr>
              <a:t>物販・医療の紹介手数料はゼロ。「売らない」。中立に並べるだけ。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62272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462272"/>
            <a:ext cx="64008" cy="786384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462272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41A"/>
                </a:solidFill>
                <a:latin typeface="Yu Gothic"/>
              </a:rPr>
              <a:t>医療免責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462272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B47"/>
                </a:solidFill>
                <a:latin typeface="Yu Gothic"/>
              </a:rPr>
              <a:t>医療行為ではない。医療判断はしない。必要時のみ連携先を中立案内。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294376"/>
            <a:ext cx="109270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294376"/>
            <a:ext cx="64008" cy="786384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94376"/>
            <a:ext cx="2377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241A"/>
                </a:solidFill>
                <a:latin typeface="Yu Gothic"/>
              </a:rPr>
              <a:t>言い切らない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294376"/>
            <a:ext cx="7955279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B5B47"/>
                </a:solidFill>
                <a:latin typeface="Yu Gothic"/>
              </a:rPr>
              <a:t>効果訴求・断定・完了形を使わない。「再現できる型」を基調に。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言葉づかい — NG と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効果・断定・完了形は使わない。再現と選択肢の言葉に置き換える。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3492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64008" cy="3383280"/>
          </a:xfrm>
          <a:prstGeom prst="rect">
            <a:avLst/>
          </a:prstGeom>
          <a:solidFill>
            <a:srgbClr val="B05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48920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A3A2E"/>
                </a:solidFill>
                <a:latin typeface="Yu Gothic"/>
              </a:rPr>
              <a:t>使わない（NG）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「効果」「若返り」「-10歳」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「モテる」「必ず」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「改善されます」「〜できました」（完了形）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特定ブランドへの誘導・販売トーク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医療的な診断・断定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3492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11680"/>
            <a:ext cx="64008" cy="338328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194560"/>
            <a:ext cx="48920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使う（OK）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「印象を、再現できる型に」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「自分で整えられる状態に」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「中立に並べる」「選択肢を持つ」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「良し悪しでなく、特徴として」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「続ける／別の形／何もしない、どれも選べます」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標準スケジュール（1ヶ月）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Session 1 と Session 2 は「自分で再現する期間」として最低3週間空ける。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713232"/>
          </a:xfrm>
          <a:prstGeom prst="rect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区切り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57400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057400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形式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2057400"/>
            <a:ext cx="1325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所要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5740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主担当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0632"/>
            <a:ext cx="10927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70632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Day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70632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1D"/>
                </a:solidFill>
                <a:latin typeface="Yu Gothic"/>
              </a:rPr>
              <a:t>肌・印象の診断（現在地）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770632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オンライン/対面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2770632"/>
            <a:ext cx="1325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45–60分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770632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専属担当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483864"/>
            <a:ext cx="10927080" cy="713232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83864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Day 3–7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483864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1D"/>
                </a:solidFill>
                <a:latin typeface="Yu Gothic"/>
              </a:rPr>
              <a:t>Session 1: メイク＋服選び＋撮影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483864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対面（拠点/スタジオ）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483864"/>
            <a:ext cx="1325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180–210分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483864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担当＋メイク＋スタイリスト＋撮影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197096"/>
            <a:ext cx="109270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197096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Day 7–10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197096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1D"/>
                </a:solidFill>
                <a:latin typeface="Yu Gothic"/>
              </a:rPr>
              <a:t>型の納品（マニュアル化）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4197096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非同期（アプリ/LINE）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197096"/>
            <a:ext cx="1325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197096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専属担当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910328"/>
            <a:ext cx="10927080" cy="713232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9103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Day 28–32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4910328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1F2A1D"/>
                </a:solidFill>
                <a:latin typeface="Yu Gothic"/>
              </a:rPr>
              <a:t>Session 2: 1ヶ月後の再撮影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4910328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対面/オンライン提出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910328"/>
            <a:ext cx="1325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60–90分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910328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専属担当＋撮影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DAY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肌・印象の診断（現在地）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目的: いまの第一印象を、本人と担当が同じ言葉で見る。評価・ダメ出しではない。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852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64008" cy="338328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394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進行（45–60分）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1. 守秘・匿名の確認（2分）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2. 現在地ヒアリング（15分）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3. 中立の見立て（20分）— 良し悪しでなく特徴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4. 1ヶ月のゴール設定（10分）— 型を1–2個に絞る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5. 次回準備の案内（5分）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011680"/>
            <a:ext cx="4937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011680"/>
            <a:ext cx="64008" cy="338328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2194560"/>
            <a:ext cx="4480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担当チェックリスト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会員IDで記録（本名・顔を残さない）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顔出し可否・データの扱いを合意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医療トピックは「中立案内」フラグ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ゴールを本人の言葉で1–2個に確定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禁止: 効果の約束 / 推奨販売 / 医療断定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メイク＋服選び＋撮影（中核）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目的: 型を手で体験し、本人が再現できる状態に近づける。所要 180–210分。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10927080" cy="603504"/>
          </a:xfrm>
          <a:prstGeom prst="rect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011680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11680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主担当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15184"/>
            <a:ext cx="10927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15184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0–15分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15184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受付・守秘確認・ゴール共有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15184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専属担当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18688"/>
            <a:ext cx="10927080" cy="603504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18688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15–60分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18688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スキンケア＆メイク（本人が1回再現まで）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18688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メイク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22192"/>
            <a:ext cx="10927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22192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60–105分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822192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服選び（手持ち＋サンプルで型を組む）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822192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スタイリスト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425696"/>
            <a:ext cx="10927080" cy="603504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425696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105–165分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425696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撮影（再現の基準として／本人管理前提）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425696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フォトグラファー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29200"/>
            <a:ext cx="10927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29200"/>
            <a:ext cx="1828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165–210分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029200"/>
            <a:ext cx="6400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B5B47"/>
                </a:solidFill>
                <a:latin typeface="Yu Gothic"/>
              </a:rPr>
              <a:t>型の言語化（手順メモ・買い足し不要リスト）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029200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2A1D"/>
                </a:solidFill>
                <a:latin typeface="Yu Gothic"/>
              </a:rPr>
              <a:t>専属担当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24144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肝: メイクは「やってあげる」でなく本人が1回できるまで／服は売らない（中立候補のみ）／撮影は盛るためでなく再現の基準。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納品物 — 1ヶ月再現するための「型」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成果物は『変わった写真』ではなく『再現手順＋本人の素材』。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6060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2606040" cy="6400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5AB8B"/>
                </a:solidFill>
                <a:latin typeface="Yu Gothic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スキンケア＆メイク手順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033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写真付きステップ・所要時間つき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103120"/>
            <a:ext cx="26060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2103120"/>
            <a:ext cx="2606040" cy="6400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0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5AB8B"/>
                </a:solidFill>
                <a:latin typeface="Yu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28803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服の型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37033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組み合わせ表／手持ちで成立する形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45936" y="2103120"/>
            <a:ext cx="26060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45936" y="2103120"/>
            <a:ext cx="2606040" cy="6400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5AB8B"/>
                </a:solidFill>
                <a:latin typeface="Yu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8803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撮影の自己再現メモ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7033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光・角度・距離の目安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2103120"/>
            <a:ext cx="26060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2103120"/>
            <a:ext cx="2606040" cy="6400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4896" y="242316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5AB8B"/>
                </a:solidFill>
                <a:latin typeface="Yu Gothi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88036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ゆるい再現チェック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4896" y="370332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〜すべき ではなく目安として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1ヶ月後の再撮影（ふりかえり）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目的: 自分で型を再現できたかを一緒に確認。比較は優劣でなく再現度。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8521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64008" cy="338328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394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進行（60–90分）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1. 守秘確認（2分）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2. 再撮影（Day0/Session1と同条件で）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3. 再現度のふりかえり（本人の言葉で）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4. これからの選択肢を中立に整理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011680"/>
            <a:ext cx="49377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2011680"/>
            <a:ext cx="64008" cy="338328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2" y="2194560"/>
            <a:ext cx="44805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担当チェックリスト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同条件で再撮影できた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本人が再現できた範囲を言語化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□ 次の選択肢を中立に提示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4B5B47"/>
                </a:solidFill>
                <a:latin typeface="Yu Gothic"/>
              </a:rPr>
              <a:t>　（押し売りしない／「何もしない」も）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役割と必要人員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パートナーは全員、紹介手数料ゼロ・固定の業務委託費で契約（中立性の担保）。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927080" cy="749808"/>
          </a:xfrm>
          <a:prstGeom prst="rect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役割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57400"/>
            <a:ext cx="4754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057400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形態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07208"/>
            <a:ext cx="10927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07208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専属担当（コンシェルジュ）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07208"/>
            <a:ext cx="4754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全体進行・守秘・型の言語化・連携判断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807208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社内 / NDA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57016"/>
            <a:ext cx="10927080" cy="749808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557016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メイク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557016"/>
            <a:ext cx="4754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本人が再現できるメイクの分解・指導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557016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業務委託 / NDA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06824"/>
            <a:ext cx="10927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スタイリスト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306824"/>
            <a:ext cx="4754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手持ち中心の型設計（売らない）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306824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業務委託 / NDA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56632"/>
            <a:ext cx="10927080" cy="749808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56632"/>
            <a:ext cx="3291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フォトグラファー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056632"/>
            <a:ext cx="47548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再現基準としての撮影・データ受け渡し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5056632"/>
            <a:ext cx="21945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業務委託 / NDA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匿名・撮影データ運用（最重要）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顔まわりを扱うため、データの扱いが事業の信頼の核。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10927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65960"/>
            <a:ext cx="64008" cy="77724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65960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1A"/>
                </a:solidFill>
                <a:latin typeface="Yu Gothic"/>
              </a:rPr>
              <a:t>本人管理が原則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65960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撮影データは本人の端末/本人管理クラウドへ。社内に顔データを残さない設計を第一候補。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70632"/>
            <a:ext cx="10927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770632"/>
            <a:ext cx="64008" cy="77724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70632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1A"/>
                </a:solidFill>
                <a:latin typeface="Yu Gothic"/>
              </a:rPr>
              <a:t>社内保管が必要な場合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70632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会員IDのみで管理。保管期間と削除期限を本人と事前合意し、期限で削除。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75304"/>
            <a:ext cx="10927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75304"/>
            <a:ext cx="64008" cy="77724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75304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1A"/>
                </a:solidFill>
                <a:latin typeface="Yu Gothic"/>
              </a:rPr>
              <a:t>共有禁止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575304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SNS・実績紹介・パートナー間の顔写真共有は、個別書面同意がない限り一切しない。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79976"/>
            <a:ext cx="10927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379976"/>
            <a:ext cx="64008" cy="77724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79976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1A"/>
                </a:solidFill>
                <a:latin typeface="Yu Gothic"/>
              </a:rPr>
              <a:t>同意の記録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379976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顔出し可否・保管可否・期限を会員IDに紐づけて記録（本名とは結びつけない）。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84648"/>
            <a:ext cx="1092708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184648"/>
            <a:ext cx="64008" cy="77724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84648"/>
            <a:ext cx="2834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6241A"/>
                </a:solidFill>
                <a:latin typeface="Yu Gothic"/>
              </a:rPr>
              <a:t>削除請求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184648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本人からの削除依頼は即応。完了を本人に通知。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FLOW &amp;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予約・決済フローと採算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価格は ¥38,000〜。規模・回数で変動する場合は選考後に個別提示。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669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64008" cy="3383280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94560"/>
            <a:ext cx="5212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予約・決済フロー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B5B47"/>
                </a:solidFill>
                <a:latin typeface="Yu Gothic"/>
              </a:rPr>
              <a:t>1. 予約登録（/apply・NDA同意必須）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B5B47"/>
                </a:solidFill>
                <a:latin typeface="Yu Gothic"/>
              </a:rPr>
              <a:t>2. 会員ID発行・適合チェック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B5B47"/>
                </a:solidFill>
                <a:latin typeface="Yu Gothic"/>
              </a:rPr>
              <a:t>3. 日程確定・事前決済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4B5B47"/>
                </a:solidFill>
                <a:latin typeface="Yu Gothic"/>
              </a:rPr>
              <a:t>4. Day 0 → アプリ/LINE で進行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2011680"/>
            <a:ext cx="5029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011680"/>
            <a:ext cx="64008" cy="338328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1D"/>
                </a:solidFill>
                <a:latin typeface="Yu Gothic"/>
              </a:rPr>
              <a:t>原価・採算テンプレ（実数を入れる）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2697480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メイク（委託）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269748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66"/>
                </a:solidFill>
                <a:latin typeface="Yu Gothic"/>
              </a:rPr>
              <a:t>¥——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3044952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スタイリスト（委託）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044952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66"/>
                </a:solidFill>
                <a:latin typeface="Yu Gothic"/>
              </a:rPr>
              <a:t>¥——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3392424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フォトグラファー（委託）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3392424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66"/>
                </a:solidFill>
                <a:latin typeface="Yu Gothic"/>
              </a:rPr>
              <a:t>¥——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73989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スタジオ/拠点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739896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66"/>
                </a:solidFill>
                <a:latin typeface="Yu Gothic"/>
              </a:rPr>
              <a:t>¥——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408736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運営・システム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4087368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7A66"/>
                </a:solidFill>
                <a:latin typeface="Yu Gothic"/>
              </a:rPr>
              <a:t>¥——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4434840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1D"/>
                </a:solidFill>
                <a:latin typeface="Yu Gothic"/>
              </a:rPr>
              <a:t>原価計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434840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3D5638"/>
                </a:solidFill>
                <a:latin typeface="Yu Gothic"/>
              </a:rPr>
              <a:t>¥——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4782312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2A1D"/>
                </a:solidFill>
                <a:latin typeface="Yu Gothic"/>
              </a:rPr>
              <a:t>粗利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782312"/>
            <a:ext cx="1463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3D5638"/>
                </a:solidFill>
                <a:latin typeface="Yu Gothic"/>
              </a:rPr>
              <a:t>売価 − 原価計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リスクと対応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信頼を損なわないための予防と現場対応。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10927080" cy="749808"/>
          </a:xfrm>
          <a:prstGeom prst="rect">
            <a:avLst/>
          </a:prstGeom>
          <a:solidFill>
            <a:srgbClr val="16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3383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リスク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6949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EDF1E8"/>
                </a:solidFill>
                <a:latin typeface="Yu Gothic"/>
              </a:rPr>
              <a:t>予防 / 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61488"/>
            <a:ext cx="10927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61488"/>
            <a:ext cx="3383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効果を期待されすぎる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761488"/>
            <a:ext cx="6949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受付・Day0で「再現できる型を持ち帰る体験」と明言。断定しない。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11296"/>
            <a:ext cx="10927080" cy="749808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3383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医療領域への踏み込み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11296"/>
            <a:ext cx="6949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医療判断はしない。必要時のみ連携医療機関を中立案内（手数料ゼロ）。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61104"/>
            <a:ext cx="10927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261104"/>
            <a:ext cx="3383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顔データの漏洩懸念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261104"/>
            <a:ext cx="6949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本人管理を原則化。社内保管は会員ID＋期限削除。NDA徹底。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10912"/>
            <a:ext cx="10927080" cy="749808"/>
          </a:xfrm>
          <a:prstGeom prst="rect">
            <a:avLst/>
          </a:prstGeom>
          <a:solidFill>
            <a:srgbClr val="F4F6F2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10912"/>
            <a:ext cx="3383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パートナーの中立性崩れ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010912"/>
            <a:ext cx="6949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固定委託費・物販誘導禁止を契約で明文化。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760720"/>
            <a:ext cx="10927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760720"/>
            <a:ext cx="3383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1F2A1D"/>
                </a:solidFill>
                <a:latin typeface="Yu Gothic"/>
              </a:rPr>
              <a:t>当日キャンセル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760720"/>
            <a:ext cx="6949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B5B47"/>
                </a:solidFill>
                <a:latin typeface="Yu Gothic"/>
              </a:rPr>
              <a:t>事前決済＋キャンセルポリシーをNDA時に提示。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56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45480"/>
            <a:ext cx="292608" cy="2794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5638"/>
                </a:solidFill>
                <a:latin typeface="Yu Gothic"/>
              </a:rPr>
              <a:t>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2A1D"/>
                </a:solidFill>
                <a:latin typeface="Yu Gothic"/>
              </a:rPr>
              <a:t>現場の1行スクリプト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4B5B47"/>
                </a:solidFill>
                <a:latin typeface="Yu Gothic"/>
              </a:rPr>
              <a:t>迷ったらこの言い回し。煽らない・断定しない・選択肢を残す。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A66"/>
                </a:solidFill>
                <a:latin typeface="Yu Gothic"/>
              </a:rPr>
              <a:t>His Recoveries — 第一印象パッケージ 現場運用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A66"/>
                </a:solidFill>
                <a:latin typeface="Yu Gothic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1554480" cy="914400"/>
          </a:xfrm>
          <a:prstGeom prst="rect">
            <a:avLst/>
          </a:prstGeom>
          <a:solidFill>
            <a:srgbClr val="E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6241A"/>
                </a:solidFill>
                <a:latin typeface="Yu Gothic"/>
              </a:rPr>
              <a:t>受付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011680"/>
            <a:ext cx="8869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1D"/>
                </a:solidFill>
                <a:latin typeface="Yu Gothic"/>
              </a:rPr>
              <a:t>「ここでは本名も顔の記録も残しません。すべて匿名・守秘のもとで進めます。」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1554480" cy="914400"/>
          </a:xfrm>
          <a:prstGeom prst="rect">
            <a:avLst/>
          </a:prstGeom>
          <a:solidFill>
            <a:srgbClr val="E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7180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6241A"/>
                </a:solidFill>
                <a:latin typeface="Yu Gothic"/>
              </a:rPr>
              <a:t>診断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971800"/>
            <a:ext cx="8869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1D"/>
                </a:solidFill>
                <a:latin typeface="Yu Gothic"/>
              </a:rPr>
              <a:t>「良し悪しではなく、いまの特徴を一緒に並べていきますね。」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1554480" cy="914400"/>
          </a:xfrm>
          <a:prstGeom prst="rect">
            <a:avLst/>
          </a:prstGeom>
          <a:solidFill>
            <a:srgbClr val="E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6241A"/>
                </a:solidFill>
                <a:latin typeface="Yu Gothic"/>
              </a:rPr>
              <a:t>物販局面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31920"/>
            <a:ext cx="8869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1D"/>
                </a:solidFill>
                <a:latin typeface="Yu Gothic"/>
              </a:rPr>
              <a:t>「これは売り物ではないので、必要な分だけ中立に候補を出します。」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92040"/>
            <a:ext cx="109270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1554480" cy="914400"/>
          </a:xfrm>
          <a:prstGeom prst="rect">
            <a:avLst/>
          </a:prstGeom>
          <a:solidFill>
            <a:srgbClr val="ED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6241A"/>
                </a:solidFill>
                <a:latin typeface="Yu Gothic"/>
              </a:rPr>
              <a:t>クロージング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92040"/>
            <a:ext cx="8869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1D"/>
                </a:solidFill>
                <a:latin typeface="Yu Gothic"/>
              </a:rPr>
              <a:t>「続ける・別の形・何もしない、どれも選べます。型はお持ち帰りできます。」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502920" cy="30480"/>
          </a:xfrm>
          <a:prstGeom prst="rect">
            <a:avLst/>
          </a:prstGeom>
          <a:solidFill>
            <a:srgbClr val="85A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Yu Mincho"/>
              </a:rPr>
              <a:t>印象を、再現できる型に。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DF1E8"/>
                </a:solidFill>
                <a:latin typeface="Yu Gothic"/>
              </a:rPr>
              <a:t>完全匿名 ・ 完全守秘義務 ・ 中立 ・ 医療連携は中立案内（紹介手数料ゼロ）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5AB8B"/>
                </a:solidFill>
                <a:latin typeface="Yu Gothic"/>
              </a:rPr>
              <a:t>His Recoveries ／ バイタリティデザイン合同会社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